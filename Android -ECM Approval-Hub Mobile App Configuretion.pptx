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75" r:id="rId8"/>
  </p:sldIdLst>
  <p:sldSz cx="14630400" cy="8229600"/>
  <p:notesSz cx="8229600" cy="14630400"/>
  <p:embeddedFontLst>
    <p:embeddedFont>
      <p:font typeface="Nobil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260" autoAdjust="0"/>
  </p:normalViewPr>
  <p:slideViewPr>
    <p:cSldViewPr snapToGrid="0" snapToObjects="1">
      <p:cViewPr varScale="1">
        <p:scale>
          <a:sx n="88" d="100"/>
          <a:sy n="88" d="100"/>
        </p:scale>
        <p:origin x="7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18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0E70-A213-FAF8-359E-D3A9688C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CEE6D-644B-1841-027A-27A76E4AA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45F2C-1CDB-0D2E-A8FA-4D3C9AD4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730B6-8E45-44D6-74F2-3F3A8BC53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42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04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6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25.jfif"/><Relationship Id="rId4" Type="http://schemas.openxmlformats.org/officeDocument/2006/relationships/image" Target="../media/image21.png"/><Relationship Id="rId9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fif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23.jpg"/><Relationship Id="rId4" Type="http://schemas.openxmlformats.org/officeDocument/2006/relationships/image" Target="../media/image21.png"/><Relationship Id="rId9" Type="http://schemas.openxmlformats.org/officeDocument/2006/relationships/image" Target="../media/image25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70211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Segoe UI Light (Headings)"/>
                <a:ea typeface="Alexandria" pitchFamily="34" charset="-122"/>
                <a:cs typeface="Alexandria" pitchFamily="34" charset="-120"/>
              </a:rPr>
              <a:t>Install and Configure ECM &amp; Approval Hub Mobile Applications</a:t>
            </a:r>
            <a:endParaRPr lang="en-US" sz="4450" b="1" dirty="0">
              <a:latin typeface="Segoe UI Light (Headings)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16861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Segoe UI Light (Headings)"/>
                <a:cs typeface="Alexandria" pitchFamily="34" charset="-120"/>
              </a:rPr>
              <a:t>Android Devices</a:t>
            </a:r>
          </a:p>
        </p:txBody>
      </p:sp>
      <p:sp>
        <p:nvSpPr>
          <p:cNvPr id="5" name="Text 2"/>
          <p:cNvSpPr/>
          <p:nvPr/>
        </p:nvSpPr>
        <p:spPr>
          <a:xfrm>
            <a:off x="793790" y="507575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Segoe UI Light (Headings)"/>
                <a:ea typeface="Nobile" pitchFamily="34" charset="-122"/>
                <a:cs typeface="Nobile" pitchFamily="34" charset="-120"/>
              </a:rPr>
              <a:t>This guide provides technical users with comprehensive instructions for installing and configuring the ECM Mobile Application and Approval Hub Application on Android devices, ensuring seamless workflow management and approvals.</a:t>
            </a:r>
            <a:endParaRPr lang="en-US" sz="1750" dirty="0">
              <a:latin typeface="Segoe UI Light (Headings)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4134"/>
            <a:ext cx="825984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+mj-lt"/>
                <a:ea typeface="Alexandria" pitchFamily="34" charset="-122"/>
                <a:cs typeface="Alexandria" pitchFamily="34" charset="-120"/>
              </a:rPr>
              <a:t>Introduction to ECM &amp; Approval Hub</a:t>
            </a:r>
            <a:endParaRPr lang="en-US" sz="35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647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+mj-lt"/>
                <a:ea typeface="Nobile" pitchFamily="34" charset="-122"/>
                <a:cs typeface="Nobile" pitchFamily="34" charset="-120"/>
              </a:rPr>
              <a:t>This user guide provides step-by-step instructions on how to install and configure the ECM Mobile Application and the Approval Hub Application on Android devices.</a:t>
            </a:r>
            <a:endParaRPr lang="en-US" sz="175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872508"/>
            <a:ext cx="3408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+mj-lt"/>
                <a:ea typeface="Alexandria" pitchFamily="34" charset="-122"/>
                <a:cs typeface="Alexandria" pitchFamily="34" charset="-120"/>
              </a:rPr>
              <a:t>ECM Mobile Application</a:t>
            </a:r>
            <a:endParaRPr lang="en-US" sz="2200" b="1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453652"/>
            <a:ext cx="6244709" cy="171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  <a:ea typeface="Nobile" pitchFamily="34" charset="-122"/>
                <a:cs typeface="Nobile" pitchFamily="34" charset="-120"/>
              </a:rPr>
              <a:t>Lightweight app for on-the-go work item management: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View and action work items efficiently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Forward and reply to items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Digitally sign or initiate workflows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2587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009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872508"/>
            <a:ext cx="3665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Approval Hub Application</a:t>
            </a:r>
          </a:p>
        </p:txBody>
      </p:sp>
      <p:sp>
        <p:nvSpPr>
          <p:cNvPr id="10" name="Text 8"/>
          <p:cNvSpPr/>
          <p:nvPr/>
        </p:nvSpPr>
        <p:spPr>
          <a:xfrm>
            <a:off x="7599521" y="4453652"/>
            <a:ext cx="6244709" cy="1878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Centralized interface for quick approvals: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Consolidates pending approvals from systems like ECM, UPS, 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       End of Service, eBEAMS, and Payments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Streamlines the approval process from Easy Memo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404155"/>
              </a:solidFill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489585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246" y="7623154"/>
            <a:ext cx="1917153" cy="606446"/>
          </a:xfrm>
          <a:prstGeom prst="rect">
            <a:avLst/>
          </a:prstGeom>
        </p:spPr>
      </p:pic>
      <p:pic>
        <p:nvPicPr>
          <p:cNvPr id="14" name="Picture 13" descr="A blue bird in a circle with text&#10;&#10;AI-generated content may be incorrect.">
            <a:extLst>
              <a:ext uri="{FF2B5EF4-FFF2-40B4-BE49-F238E27FC236}">
                <a16:creationId xmlns:a16="http://schemas.microsoft.com/office/drawing/2014/main" id="{C2567512-4E22-D412-E450-8BEEF7884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1822" y="7225037"/>
            <a:ext cx="812315" cy="1004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323" y="534591"/>
            <a:ext cx="8329613" cy="486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Installing Intune Company Portal (Android)</a:t>
            </a:r>
          </a:p>
        </p:txBody>
      </p:sp>
      <p:sp>
        <p:nvSpPr>
          <p:cNvPr id="4" name="Shape 2"/>
          <p:cNvSpPr/>
          <p:nvPr/>
        </p:nvSpPr>
        <p:spPr>
          <a:xfrm>
            <a:off x="226874" y="1578639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36" y="1707361"/>
            <a:ext cx="233243" cy="291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7493" y="1730540"/>
            <a:ext cx="4601970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Segoe UI Light (Headings)"/>
                <a:ea typeface="Nobile" pitchFamily="34" charset="-122"/>
                <a:cs typeface="Nobile" pitchFamily="34" charset="-120"/>
              </a:rPr>
              <a:t>1.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Download and install the Intune Company Portal application from the Google Play Store.</a:t>
            </a:r>
          </a:p>
        </p:txBody>
      </p:sp>
      <p:sp>
        <p:nvSpPr>
          <p:cNvPr id="8" name="Shape 5"/>
          <p:cNvSpPr/>
          <p:nvPr/>
        </p:nvSpPr>
        <p:spPr>
          <a:xfrm>
            <a:off x="5412011" y="1578639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14" y="1724371"/>
            <a:ext cx="233243" cy="2915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15490" y="1730539"/>
            <a:ext cx="4018920" cy="119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2. </a:t>
            </a: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Launch Intune Company Portal, enter your KOC email and password, ensuring the Authenticator app is already installed and activated.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.</a:t>
            </a:r>
          </a:p>
        </p:txBody>
      </p:sp>
      <p:pic>
        <p:nvPicPr>
          <p:cNvPr id="23" name="Picture 22" descr="A screenshot of a phone&#10;&#10;AI-generated content may be incorrect.">
            <a:extLst>
              <a:ext uri="{FF2B5EF4-FFF2-40B4-BE49-F238E27FC236}">
                <a16:creationId xmlns:a16="http://schemas.microsoft.com/office/drawing/2014/main" id="{8B4BBD8B-708F-F522-681B-84AAFAD13E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46" y="2451295"/>
            <a:ext cx="2010994" cy="4491221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92B08B-3CD5-726B-0DAA-439E4C705CD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608" y="2733816"/>
            <a:ext cx="2010994" cy="449122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3246" y="7623154"/>
            <a:ext cx="1917153" cy="606446"/>
          </a:xfrm>
          <a:prstGeom prst="rect">
            <a:avLst/>
          </a:prstGeom>
        </p:spPr>
      </p:pic>
      <p:pic>
        <p:nvPicPr>
          <p:cNvPr id="27" name="Picture 26" descr="A blue bird in a circle with text&#10;&#10;AI-generated content may be incorrect.">
            <a:extLst>
              <a:ext uri="{FF2B5EF4-FFF2-40B4-BE49-F238E27FC236}">
                <a16:creationId xmlns:a16="http://schemas.microsoft.com/office/drawing/2014/main" id="{C2567512-4E22-D412-E450-8BEEF78845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1822" y="7225037"/>
            <a:ext cx="812315" cy="1004563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B48F8774-8A9A-094A-066F-CD72BDBEFAD7}"/>
              </a:ext>
            </a:extLst>
          </p:cNvPr>
          <p:cNvSpPr/>
          <p:nvPr/>
        </p:nvSpPr>
        <p:spPr>
          <a:xfrm>
            <a:off x="10927358" y="1713108"/>
            <a:ext cx="3476168" cy="596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3.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Tap "Begin" to automatically create your Work Profile.</a:t>
            </a: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A0D2E405-F1F2-9878-3A46-01E14B8CF476}"/>
              </a:ext>
            </a:extLst>
          </p:cNvPr>
          <p:cNvSpPr/>
          <p:nvPr/>
        </p:nvSpPr>
        <p:spPr>
          <a:xfrm>
            <a:off x="10270890" y="1578638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BB0729B8-2BBA-488D-0449-9EA52F088F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5793" y="1724371"/>
            <a:ext cx="233243" cy="291584"/>
          </a:xfrm>
          <a:prstGeom prst="rect">
            <a:avLst/>
          </a:prstGeom>
        </p:spPr>
      </p:pic>
      <p:pic>
        <p:nvPicPr>
          <p:cNvPr id="22" name="Picture 21" descr="A screenshot of a phone&#10;&#10;AI-generated content may be incorrect.">
            <a:extLst>
              <a:ext uri="{FF2B5EF4-FFF2-40B4-BE49-F238E27FC236}">
                <a16:creationId xmlns:a16="http://schemas.microsoft.com/office/drawing/2014/main" id="{F1FE7581-2569-CBB6-F80E-AA220E2896F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1678" y="2451295"/>
            <a:ext cx="1943135" cy="43396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36E7-BC77-1DF7-23C7-C04E679D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2879F8-0A70-C2CC-4170-967B0310DC9A}"/>
              </a:ext>
            </a:extLst>
          </p:cNvPr>
          <p:cNvSpPr/>
          <p:nvPr/>
        </p:nvSpPr>
        <p:spPr>
          <a:xfrm>
            <a:off x="680323" y="534591"/>
            <a:ext cx="8329613" cy="486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Configure Intune Company Portal (Android)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BB7788D-E722-25B1-D08E-466FEB8879BF}"/>
              </a:ext>
            </a:extLst>
          </p:cNvPr>
          <p:cNvSpPr/>
          <p:nvPr/>
        </p:nvSpPr>
        <p:spPr>
          <a:xfrm>
            <a:off x="897493" y="1730540"/>
            <a:ext cx="4228908" cy="102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  <a:ea typeface="Nobile" pitchFamily="34" charset="-122"/>
                <a:cs typeface="Nobile" pitchFamily="34" charset="-120"/>
              </a:rPr>
              <a:t>4.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Activate your work profile on your device by tapping the mobile icon, which will activate your device.</a:t>
            </a: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991F253-73DE-7E71-F999-719C2B5A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14" y="1724371"/>
            <a:ext cx="233243" cy="29158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830AADD5-4527-6844-D15E-5EB7135972D2}"/>
              </a:ext>
            </a:extLst>
          </p:cNvPr>
          <p:cNvSpPr/>
          <p:nvPr/>
        </p:nvSpPr>
        <p:spPr>
          <a:xfrm>
            <a:off x="6280922" y="1730539"/>
            <a:ext cx="3477006" cy="902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  <a:ea typeface="Nobile" pitchFamily="34" charset="-122"/>
                <a:cs typeface="Nobile" pitchFamily="34" charset="-120"/>
              </a:rPr>
              <a:t>5.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Download ECM &amp; Approval Hub applications directly from the Google Play Store within the Work Profile</a:t>
            </a:r>
            <a:r>
              <a:rPr lang="en-US" sz="1500" dirty="0">
                <a:solidFill>
                  <a:srgbClr val="404155"/>
                </a:solidFill>
                <a:latin typeface="Segoe UI Light (Headings)"/>
                <a:ea typeface="Nobile" pitchFamily="34" charset="-122"/>
                <a:cs typeface="Nobile" pitchFamily="34" charset="-120"/>
              </a:rPr>
              <a:t>.</a:t>
            </a:r>
            <a:endParaRPr lang="en-US" sz="1500" dirty="0">
              <a:latin typeface="Segoe UI Light (Headings)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E64FD97-528D-6820-5095-542F82200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246" y="7623154"/>
            <a:ext cx="1917153" cy="606446"/>
          </a:xfrm>
          <a:prstGeom prst="rect">
            <a:avLst/>
          </a:prstGeom>
        </p:spPr>
      </p:pic>
      <p:pic>
        <p:nvPicPr>
          <p:cNvPr id="27" name="Picture 26" descr="A blue bird in a circle with text&#10;&#10;AI-generated content may be incorrect.">
            <a:extLst>
              <a:ext uri="{FF2B5EF4-FFF2-40B4-BE49-F238E27FC236}">
                <a16:creationId xmlns:a16="http://schemas.microsoft.com/office/drawing/2014/main" id="{466C4440-CB42-212A-D977-9078C2630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1822" y="7225037"/>
            <a:ext cx="812315" cy="1004563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D88CEEFE-486A-A4F6-8A79-C154156F4BE1}"/>
              </a:ext>
            </a:extLst>
          </p:cNvPr>
          <p:cNvSpPr/>
          <p:nvPr/>
        </p:nvSpPr>
        <p:spPr>
          <a:xfrm>
            <a:off x="10927358" y="1713108"/>
            <a:ext cx="3476168" cy="1038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00" dirty="0">
                <a:solidFill>
                  <a:srgbClr val="404155"/>
                </a:solidFill>
                <a:latin typeface="Nobile" pitchFamily="34" charset="0"/>
              </a:rPr>
              <a:t>6.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Ensure the "Work Profile" button is enabled. Your Work Profile is now successfully ready for use.</a:t>
            </a:r>
          </a:p>
          <a:p>
            <a:endParaRPr lang="en-US" sz="1500" dirty="0">
              <a:solidFill>
                <a:srgbClr val="404155"/>
              </a:solidFill>
              <a:latin typeface="Nobile" pitchFamily="34" charset="0"/>
            </a:endParaRPr>
          </a:p>
        </p:txBody>
      </p:sp>
      <p:pic>
        <p:nvPicPr>
          <p:cNvPr id="3" name="Picture 2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C6048BD6-6EB4-A14C-804B-F426FDD077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3" t="13530" r="11900" b="15271"/>
          <a:stretch>
            <a:fillRect/>
          </a:stretch>
        </p:blipFill>
        <p:spPr>
          <a:xfrm>
            <a:off x="1387808" y="2860475"/>
            <a:ext cx="2016597" cy="4324764"/>
          </a:xfrm>
          <a:prstGeom prst="rect">
            <a:avLst/>
          </a:prstGeom>
        </p:spPr>
      </p:pic>
      <p:pic>
        <p:nvPicPr>
          <p:cNvPr id="7" name="Picture 6" descr="A screen shot of a phone&#10;&#10;AI-generated content may be incorrect.">
            <a:extLst>
              <a:ext uri="{FF2B5EF4-FFF2-40B4-BE49-F238E27FC236}">
                <a16:creationId xmlns:a16="http://schemas.microsoft.com/office/drawing/2014/main" id="{85637655-B9E7-F8E8-6525-3FCF49F0802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" t="16035" b="4013"/>
          <a:stretch>
            <a:fillRect/>
          </a:stretch>
        </p:blipFill>
        <p:spPr>
          <a:xfrm>
            <a:off x="6303067" y="2860474"/>
            <a:ext cx="2016597" cy="4324764"/>
          </a:xfrm>
          <a:prstGeom prst="rect">
            <a:avLst/>
          </a:prstGeom>
        </p:spPr>
      </p:pic>
      <p:pic>
        <p:nvPicPr>
          <p:cNvPr id="11" name="Picture 10" descr="A cell phone with a screen&#10;&#10;AI-generated content may be incorrect.">
            <a:extLst>
              <a:ext uri="{FF2B5EF4-FFF2-40B4-BE49-F238E27FC236}">
                <a16:creationId xmlns:a16="http://schemas.microsoft.com/office/drawing/2014/main" id="{D4D9D578-8F94-1BEC-71AB-89C38E962A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1" t="6435" r="13530" b="5715"/>
          <a:stretch>
            <a:fillRect/>
          </a:stretch>
        </p:blipFill>
        <p:spPr>
          <a:xfrm rot="16200000">
            <a:off x="10068078" y="4010724"/>
            <a:ext cx="4324763" cy="2024265"/>
          </a:xfrm>
          <a:prstGeom prst="rect">
            <a:avLst/>
          </a:prstGeom>
        </p:spPr>
      </p:pic>
      <p:sp>
        <p:nvSpPr>
          <p:cNvPr id="12" name="Shape 11">
            <a:extLst>
              <a:ext uri="{FF2B5EF4-FFF2-40B4-BE49-F238E27FC236}">
                <a16:creationId xmlns:a16="http://schemas.microsoft.com/office/drawing/2014/main" id="{63BA3B8A-19D3-6DF8-8EF1-4BAEEEA0F6CC}"/>
              </a:ext>
            </a:extLst>
          </p:cNvPr>
          <p:cNvSpPr/>
          <p:nvPr/>
        </p:nvSpPr>
        <p:spPr>
          <a:xfrm>
            <a:off x="180676" y="1584807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41B81418-0375-1B81-749A-EFDCF58473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79" y="1730540"/>
            <a:ext cx="233243" cy="291584"/>
          </a:xfrm>
          <a:prstGeom prst="rect">
            <a:avLst/>
          </a:prstGeom>
        </p:spPr>
      </p:pic>
      <p:sp>
        <p:nvSpPr>
          <p:cNvPr id="14" name="Shape 8">
            <a:extLst>
              <a:ext uri="{FF2B5EF4-FFF2-40B4-BE49-F238E27FC236}">
                <a16:creationId xmlns:a16="http://schemas.microsoft.com/office/drawing/2014/main" id="{6C80A086-EDD4-A787-0FA4-1287EB3B072A}"/>
              </a:ext>
            </a:extLst>
          </p:cNvPr>
          <p:cNvSpPr/>
          <p:nvPr/>
        </p:nvSpPr>
        <p:spPr>
          <a:xfrm>
            <a:off x="10255857" y="1584807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68EBA4FA-4864-EF15-DAFF-EFBD5FB1FD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0760" y="1730540"/>
            <a:ext cx="233243" cy="291584"/>
          </a:xfrm>
          <a:prstGeom prst="rect">
            <a:avLst/>
          </a:prstGeom>
        </p:spPr>
      </p:pic>
      <p:sp>
        <p:nvSpPr>
          <p:cNvPr id="16" name="Shape 2">
            <a:extLst>
              <a:ext uri="{FF2B5EF4-FFF2-40B4-BE49-F238E27FC236}">
                <a16:creationId xmlns:a16="http://schemas.microsoft.com/office/drawing/2014/main" id="{0A3D00C7-33E3-3C34-B79A-0368A2A2246B}"/>
              </a:ext>
            </a:extLst>
          </p:cNvPr>
          <p:cNvSpPr/>
          <p:nvPr/>
        </p:nvSpPr>
        <p:spPr>
          <a:xfrm>
            <a:off x="5624330" y="1578639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54F37E16-8F44-14FC-D8DF-ACF2254D81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9233" y="1724371"/>
            <a:ext cx="233243" cy="2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7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7930"/>
            <a:ext cx="733651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Activate VPN using MS Defender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255853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+mj-lt"/>
              </a:rPr>
              <a:t>To securely use the applications, you must enable MS Defender on your mobile device to ensure encrypted and secure access to corporate resources.</a:t>
            </a:r>
          </a:p>
        </p:txBody>
      </p:sp>
      <p:sp>
        <p:nvSpPr>
          <p:cNvPr id="4" name="Text 2"/>
          <p:cNvSpPr/>
          <p:nvPr/>
        </p:nvSpPr>
        <p:spPr>
          <a:xfrm>
            <a:off x="793790" y="3743563"/>
            <a:ext cx="6244709" cy="1374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AutoNum type="arabicPeriod"/>
            </a:pPr>
            <a:r>
              <a:rPr lang="en-US" sz="1750" b="1" dirty="0">
                <a:solidFill>
                  <a:srgbClr val="404155"/>
                </a:solidFill>
                <a:latin typeface="+mj-lt"/>
              </a:rPr>
              <a:t>Open MS Defender application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, then tap on Tunnel.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750" b="1" dirty="0">
                <a:solidFill>
                  <a:srgbClr val="404155"/>
                </a:solidFill>
                <a:latin typeface="+mj-lt"/>
              </a:rPr>
              <a:t>Enable the VPN toggle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to connect to the secure network.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750" b="1" dirty="0">
                <a:solidFill>
                  <a:srgbClr val="404155"/>
                </a:solidFill>
                <a:latin typeface="+mj-lt"/>
              </a:rPr>
              <a:t>Confirm VPN connection </a:t>
            </a:r>
            <a:r>
              <a:rPr lang="en-US" sz="1750" dirty="0">
                <a:solidFill>
                  <a:srgbClr val="404155"/>
                </a:solidFill>
                <a:latin typeface="+mj-lt"/>
              </a:rPr>
              <a:t>once the status shows "Connected."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AutoNum type="arabicPeriod"/>
            </a:pPr>
            <a:endParaRPr lang="en-US" sz="1750" b="1" dirty="0">
              <a:solidFill>
                <a:srgbClr val="404155"/>
              </a:solidFill>
              <a:latin typeface="+mj-lt"/>
            </a:endParaRPr>
          </a:p>
          <a:p>
            <a:pPr marL="342900" indent="-342900">
              <a:lnSpc>
                <a:spcPts val="2850"/>
              </a:lnSpc>
              <a:buSzPct val="100000"/>
              <a:buAutoNum type="arabicPeriod"/>
            </a:pPr>
            <a:endParaRPr lang="en-US" sz="1750" dirty="0">
              <a:solidFill>
                <a:srgbClr val="404155"/>
              </a:solidFill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4866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246" y="7623154"/>
            <a:ext cx="1917153" cy="606446"/>
          </a:xfrm>
          <a:prstGeom prst="rect">
            <a:avLst/>
          </a:prstGeom>
        </p:spPr>
      </p:pic>
      <p:pic>
        <p:nvPicPr>
          <p:cNvPr id="11" name="Picture 10" descr="A blue bird in a circle with text&#10;&#10;AI-generated content may be incorrect.">
            <a:extLst>
              <a:ext uri="{FF2B5EF4-FFF2-40B4-BE49-F238E27FC236}">
                <a16:creationId xmlns:a16="http://schemas.microsoft.com/office/drawing/2014/main" id="{C2567512-4E22-D412-E450-8BEEF7884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1822" y="7225037"/>
            <a:ext cx="812315" cy="1004563"/>
          </a:xfrm>
          <a:prstGeom prst="rect">
            <a:avLst/>
          </a:prstGeom>
        </p:spPr>
      </p:pic>
      <p:pic>
        <p:nvPicPr>
          <p:cNvPr id="12" name="Picture 11" descr="A screen shot of a phone&#10;&#10;AI-generated content may be incorrect.">
            <a:extLst>
              <a:ext uri="{FF2B5EF4-FFF2-40B4-BE49-F238E27FC236}">
                <a16:creationId xmlns:a16="http://schemas.microsoft.com/office/drawing/2014/main" id="{1732CA6E-6A0B-D44A-DBDB-70AC4C3A83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7" t="17215" r="10474" b="8648"/>
          <a:stretch>
            <a:fillRect/>
          </a:stretch>
        </p:blipFill>
        <p:spPr>
          <a:xfrm>
            <a:off x="12573028" y="3529889"/>
            <a:ext cx="1533867" cy="3604704"/>
          </a:xfrm>
          <a:prstGeom prst="rect">
            <a:avLst/>
          </a:prstGeom>
        </p:spPr>
      </p:pic>
      <p:pic>
        <p:nvPicPr>
          <p:cNvPr id="13" name="Picture 12" descr="A screen shot of a device&#10;&#10;AI-generated content may be incorrect.">
            <a:extLst>
              <a:ext uri="{FF2B5EF4-FFF2-40B4-BE49-F238E27FC236}">
                <a16:creationId xmlns:a16="http://schemas.microsoft.com/office/drawing/2014/main" id="{5AC3537D-1B97-616E-375D-427BB80B89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8" t="14185" r="7483" b="16278"/>
          <a:stretch>
            <a:fillRect/>
          </a:stretch>
        </p:blipFill>
        <p:spPr>
          <a:xfrm>
            <a:off x="10017254" y="3529406"/>
            <a:ext cx="1622165" cy="3575652"/>
          </a:xfrm>
          <a:prstGeom prst="rect">
            <a:avLst/>
          </a:prstGeom>
        </p:spPr>
      </p:pic>
      <p:pic>
        <p:nvPicPr>
          <p:cNvPr id="14" name="Picture 13" descr="A screen shot of a phone&#10;&#10;AI-generated content may be incorrect.">
            <a:extLst>
              <a:ext uri="{FF2B5EF4-FFF2-40B4-BE49-F238E27FC236}">
                <a16:creationId xmlns:a16="http://schemas.microsoft.com/office/drawing/2014/main" id="{9AEA465F-C65C-F5FB-316E-4F20E938A1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3607" r="14139" b="15436"/>
          <a:stretch>
            <a:fillRect/>
          </a:stretch>
        </p:blipFill>
        <p:spPr>
          <a:xfrm>
            <a:off x="7591903" y="3529406"/>
            <a:ext cx="1622166" cy="36487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01742"/>
            <a:ext cx="6260068" cy="54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Run ECM Mobile Application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43" y="1584246"/>
            <a:ext cx="4367332" cy="873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2385" y="267581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Launch ECM</a:t>
            </a:r>
          </a:p>
        </p:txBody>
      </p:sp>
      <p:sp>
        <p:nvSpPr>
          <p:cNvPr id="5" name="Text 2"/>
          <p:cNvSpPr/>
          <p:nvPr/>
        </p:nvSpPr>
        <p:spPr>
          <a:xfrm>
            <a:off x="982385" y="3147893"/>
            <a:ext cx="3930848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From the Work Profile, tap the ECM mobile application icon to launch.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475" y="1584246"/>
            <a:ext cx="4367332" cy="8733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9716" y="267581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Authenticate</a:t>
            </a:r>
          </a:p>
        </p:txBody>
      </p:sp>
      <p:sp>
        <p:nvSpPr>
          <p:cNvPr id="8" name="Text 4"/>
          <p:cNvSpPr/>
          <p:nvPr/>
        </p:nvSpPr>
        <p:spPr>
          <a:xfrm>
            <a:off x="5349716" y="3147893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Enter the required authentication number when prompted for secure access.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806" y="1584246"/>
            <a:ext cx="4367451" cy="8733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048" y="267581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Ready to Use</a:t>
            </a:r>
          </a:p>
        </p:txBody>
      </p:sp>
      <p:sp>
        <p:nvSpPr>
          <p:cNvPr id="11" name="Text 6"/>
          <p:cNvSpPr/>
          <p:nvPr/>
        </p:nvSpPr>
        <p:spPr>
          <a:xfrm>
            <a:off x="9717048" y="3147893"/>
            <a:ext cx="393096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Your ECM Mobile Application is now ready for efficient use and workflow management.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3246" y="7623154"/>
            <a:ext cx="1917153" cy="606446"/>
          </a:xfrm>
          <a:prstGeom prst="rect">
            <a:avLst/>
          </a:prstGeom>
        </p:spPr>
      </p:pic>
      <p:pic>
        <p:nvPicPr>
          <p:cNvPr id="16" name="Picture 15" descr="A blue bird in a circle with text&#10;&#10;AI-generated content may be incorrect.">
            <a:extLst>
              <a:ext uri="{FF2B5EF4-FFF2-40B4-BE49-F238E27FC236}">
                <a16:creationId xmlns:a16="http://schemas.microsoft.com/office/drawing/2014/main" id="{C2567512-4E22-D412-E450-8BEEF7884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1822" y="7225037"/>
            <a:ext cx="812315" cy="1004563"/>
          </a:xfrm>
          <a:prstGeom prst="rect">
            <a:avLst/>
          </a:prstGeom>
        </p:spPr>
      </p:pic>
      <p:pic>
        <p:nvPicPr>
          <p:cNvPr id="18" name="Picture 17" descr="A screen shot of a phone&#10;&#10;AI-generated content may be incorrect.">
            <a:extLst>
              <a:ext uri="{FF2B5EF4-FFF2-40B4-BE49-F238E27FC236}">
                <a16:creationId xmlns:a16="http://schemas.microsoft.com/office/drawing/2014/main" id="{9F3BCBE5-9E19-9DC7-113C-B279748822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0" t="6003" r="10970" b="6147"/>
          <a:stretch>
            <a:fillRect/>
          </a:stretch>
        </p:blipFill>
        <p:spPr>
          <a:xfrm rot="16200000">
            <a:off x="5367795" y="5128403"/>
            <a:ext cx="3894689" cy="1788737"/>
          </a:xfrm>
          <a:prstGeom prst="rect">
            <a:avLst/>
          </a:prstGeom>
        </p:spPr>
      </p:pic>
      <p:pic>
        <p:nvPicPr>
          <p:cNvPr id="19" name="Picture 18" descr="A cell phone with a chat screen&#10;&#10;AI-generated content may be incorrect.">
            <a:extLst>
              <a:ext uri="{FF2B5EF4-FFF2-40B4-BE49-F238E27FC236}">
                <a16:creationId xmlns:a16="http://schemas.microsoft.com/office/drawing/2014/main" id="{E0D50629-D129-C727-98C7-E10DAA5DE42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9" t="7330" r="31659" b="6886"/>
          <a:stretch>
            <a:fillRect/>
          </a:stretch>
        </p:blipFill>
        <p:spPr>
          <a:xfrm>
            <a:off x="10852443" y="3879541"/>
            <a:ext cx="1660176" cy="3847777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4FE7CD50-65A9-36C5-17AF-B39B410EB8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7032" y="4114800"/>
            <a:ext cx="1707635" cy="3815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01742"/>
            <a:ext cx="6260068" cy="54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Run Approval Hub Mobile Application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43" y="1584246"/>
            <a:ext cx="4367332" cy="873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2385" y="267581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Launch ECM</a:t>
            </a:r>
          </a:p>
        </p:txBody>
      </p:sp>
      <p:sp>
        <p:nvSpPr>
          <p:cNvPr id="5" name="Text 2"/>
          <p:cNvSpPr/>
          <p:nvPr/>
        </p:nvSpPr>
        <p:spPr>
          <a:xfrm>
            <a:off x="968737" y="3147893"/>
            <a:ext cx="4149090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From the Work Profile, tap the Approval Hub mobile application icon to launch.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475" y="1584246"/>
            <a:ext cx="4367332" cy="8733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9716" y="267581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Authenticate</a:t>
            </a:r>
          </a:p>
        </p:txBody>
      </p:sp>
      <p:sp>
        <p:nvSpPr>
          <p:cNvPr id="8" name="Text 4"/>
          <p:cNvSpPr/>
          <p:nvPr/>
        </p:nvSpPr>
        <p:spPr>
          <a:xfrm>
            <a:off x="5349716" y="3147893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Enter the required authentication number when prompted for secure access.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806" y="1584246"/>
            <a:ext cx="4367451" cy="8733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048" y="267581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+mj-lt"/>
                <a:cs typeface="Alexandria" pitchFamily="34" charset="-120"/>
              </a:rPr>
              <a:t>Ready to Use</a:t>
            </a:r>
          </a:p>
        </p:txBody>
      </p:sp>
      <p:sp>
        <p:nvSpPr>
          <p:cNvPr id="11" name="Text 6"/>
          <p:cNvSpPr/>
          <p:nvPr/>
        </p:nvSpPr>
        <p:spPr>
          <a:xfrm>
            <a:off x="9717048" y="3147893"/>
            <a:ext cx="393096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Segoe UI Light (Headings)"/>
              </a:rPr>
              <a:t>Your Approval Hub Mobile Application is now ready for use.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3246" y="7623154"/>
            <a:ext cx="1917153" cy="606446"/>
          </a:xfrm>
          <a:prstGeom prst="rect">
            <a:avLst/>
          </a:prstGeom>
        </p:spPr>
      </p:pic>
      <p:pic>
        <p:nvPicPr>
          <p:cNvPr id="16" name="Picture 15" descr="A blue bird in a circle with text&#10;&#10;AI-generated content may be incorrect.">
            <a:extLst>
              <a:ext uri="{FF2B5EF4-FFF2-40B4-BE49-F238E27FC236}">
                <a16:creationId xmlns:a16="http://schemas.microsoft.com/office/drawing/2014/main" id="{C2567512-4E22-D412-E450-8BEEF7884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1822" y="7225037"/>
            <a:ext cx="812315" cy="1004563"/>
          </a:xfrm>
          <a:prstGeom prst="rect">
            <a:avLst/>
          </a:prstGeom>
        </p:spPr>
      </p:pic>
      <p:pic>
        <p:nvPicPr>
          <p:cNvPr id="19" name="Picture 18" descr="A screenshot of a chat&#10;&#10;AI-generated content may be incorrect.">
            <a:extLst>
              <a:ext uri="{FF2B5EF4-FFF2-40B4-BE49-F238E27FC236}">
                <a16:creationId xmlns:a16="http://schemas.microsoft.com/office/drawing/2014/main" id="{95DFF191-B757-47AC-B96A-A022D2AA53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6059" y="4208276"/>
            <a:ext cx="1712944" cy="3712708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98C85524-59B3-8B1F-D0E4-23124B01EC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7032" y="4114800"/>
            <a:ext cx="1707635" cy="3815944"/>
          </a:xfrm>
          <a:prstGeom prst="rect">
            <a:avLst/>
          </a:prstGeom>
        </p:spPr>
      </p:pic>
      <p:pic>
        <p:nvPicPr>
          <p:cNvPr id="13" name="Picture 12" descr="A screen shot of a phone&#10;&#10;AI-generated content may be incorrect.">
            <a:extLst>
              <a:ext uri="{FF2B5EF4-FFF2-40B4-BE49-F238E27FC236}">
                <a16:creationId xmlns:a16="http://schemas.microsoft.com/office/drawing/2014/main" id="{038C177C-8530-C93C-7D40-2E9DE40A85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0" t="6003" r="10970" b="6147"/>
          <a:stretch>
            <a:fillRect/>
          </a:stretch>
        </p:blipFill>
        <p:spPr>
          <a:xfrm rot="16200000">
            <a:off x="5367795" y="5128403"/>
            <a:ext cx="3894689" cy="178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430</Words>
  <Application>Microsoft Office PowerPoint</Application>
  <PresentationFormat>Custom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Segoe UI Light (Headings)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Mendoza, Grace</dc:creator>
  <cp:lastModifiedBy>Mendoza, Grace</cp:lastModifiedBy>
  <cp:revision>18</cp:revision>
  <dcterms:created xsi:type="dcterms:W3CDTF">2025-07-14T05:39:35Z</dcterms:created>
  <dcterms:modified xsi:type="dcterms:W3CDTF">2025-08-10T08:30:25Z</dcterms:modified>
</cp:coreProperties>
</file>